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370" r:id="rId2"/>
    <p:sldId id="258" r:id="rId3"/>
    <p:sldId id="291" r:id="rId4"/>
    <p:sldId id="3386" r:id="rId5"/>
    <p:sldId id="3395" r:id="rId6"/>
    <p:sldId id="3388" r:id="rId7"/>
    <p:sldId id="3389" r:id="rId8"/>
    <p:sldId id="3391" r:id="rId9"/>
    <p:sldId id="3390" r:id="rId10"/>
    <p:sldId id="3392" r:id="rId11"/>
    <p:sldId id="28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8C0F43-F33C-47EC-AC04-DD51056599DC}" type="datetimeFigureOut">
              <a:rPr lang="en-GB" smtClean="0"/>
              <a:t>22/04/2022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6E6719-232D-4680-912D-EB1D2B34A11A}" type="slidenum">
              <a:rPr lang="en-GB" smtClean="0"/>
              <a:t>‹#›</a:t>
            </a:fld>
            <a:endParaRPr lang="en-GB"/>
          </a:p>
        </p:txBody>
      </p:sp>
    </p:spTree>
    <p:extLst>
      <p:ext uri="{BB962C8B-B14F-4D97-AF65-F5344CB8AC3E}">
        <p14:creationId xmlns:p14="http://schemas.microsoft.com/office/powerpoint/2010/main" val="301647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614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674C948-941C-43AA-82A8-B9CCFB5CC0D5}" type="slidenum">
              <a:rPr lang="en-US" altLang="en-US">
                <a:solidFill>
                  <a:srgbClr val="000000"/>
                </a:solidFill>
              </a:rPr>
              <a:pPr/>
              <a:t>1</a:t>
            </a:fld>
            <a:endParaRPr lang="en-US" altLang="en-US">
              <a:solidFill>
                <a:srgbClr val="000000"/>
              </a:solidFill>
            </a:endParaRPr>
          </a:p>
        </p:txBody>
      </p:sp>
    </p:spTree>
    <p:extLst>
      <p:ext uri="{BB962C8B-B14F-4D97-AF65-F5344CB8AC3E}">
        <p14:creationId xmlns:p14="http://schemas.microsoft.com/office/powerpoint/2010/main" val="966530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8A87-F375-496B-802C-9F5887E7A1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54758C-43A6-4C23-A6F4-559AAFA56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EDEE63B-0864-41D8-A389-740258B58271}"/>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CBFAB7EA-44A8-4505-98B5-562ED46C44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4E9D9E-9915-43B7-9C40-F1159F282CB1}"/>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2094688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E61E-BEB5-4DCD-A0BA-CEBA7D6685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0463F62-9465-40CE-9296-BDFCB72F66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BB138E-40A7-4183-A7EA-37D6AC67DF27}"/>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46F78414-E120-4344-A227-6AEA83D3D1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24E647-D56A-483F-8D79-087E70C5B073}"/>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998005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2995-426E-4B6C-9F25-873A8F48BE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C32C2D5-7C24-4716-82F0-35FEA46740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72F36B-A74B-426C-8EFD-F67749DAC18E}"/>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A109BCC4-26F3-4992-809C-3B9CABFE59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918FFE-0FB1-4578-B37E-98439B1E2E1C}"/>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777042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0346-823E-4031-A959-46600370DD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8EBB445-AFCA-443B-91E5-9D8CAC1246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A487F8A-9572-47E6-B3B2-1A7A74F064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990B114-0E10-45DF-B3F2-55BD81DD14BD}"/>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6" name="Footer Placeholder 5">
            <a:extLst>
              <a:ext uri="{FF2B5EF4-FFF2-40B4-BE49-F238E27FC236}">
                <a16:creationId xmlns:a16="http://schemas.microsoft.com/office/drawing/2014/main" id="{DC2EB802-3983-422F-BE9E-004F3E9179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7B0567-91DF-4723-8CE3-32AA36F080D4}"/>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3356000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BEE1-74A1-4FED-9C92-54955272639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769BB44-44A7-4788-B5B6-D56787B3C5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B2A057-34FE-4ED8-AA3F-B1B112A60C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707D70D-CDD3-469F-B185-B9A6599D4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757EE2-932B-4F64-BF94-39DF4C31B4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BBDA93E-D3D5-4611-A17F-35994C430716}"/>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8" name="Footer Placeholder 7">
            <a:extLst>
              <a:ext uri="{FF2B5EF4-FFF2-40B4-BE49-F238E27FC236}">
                <a16:creationId xmlns:a16="http://schemas.microsoft.com/office/drawing/2014/main" id="{63B57C5E-0F11-4E64-A057-852801C2373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0E93580-48A4-4488-B88F-29D5BB47634C}"/>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3651749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8B8F-A75D-4C12-BF34-7BD4C752CC9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E33A9B-2A93-48A1-B3E5-E08C4AE86CAE}"/>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4" name="Footer Placeholder 3">
            <a:extLst>
              <a:ext uri="{FF2B5EF4-FFF2-40B4-BE49-F238E27FC236}">
                <a16:creationId xmlns:a16="http://schemas.microsoft.com/office/drawing/2014/main" id="{B185719C-2369-44F4-B8E3-D93378D83D8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5C1B17-4668-48C8-B748-53A865E7F42B}"/>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9951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B56DE6-265F-46B0-B387-3621D2703EB0}"/>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3" name="Footer Placeholder 2">
            <a:extLst>
              <a:ext uri="{FF2B5EF4-FFF2-40B4-BE49-F238E27FC236}">
                <a16:creationId xmlns:a16="http://schemas.microsoft.com/office/drawing/2014/main" id="{74576C9E-619A-4745-9BD0-9D16EA10383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4257610-F94D-438E-AF37-84B8A7CD4C9F}"/>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3723918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1B7E4-FEF0-48A2-921E-0DD850A37B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DFA5A5-EE1F-466D-98EA-97B3A3F2A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EA248-E3E8-4539-B073-476D22CDCB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0A26A1-2CA6-4965-A6E8-1EBEFD52D9C2}"/>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6" name="Footer Placeholder 5">
            <a:extLst>
              <a:ext uri="{FF2B5EF4-FFF2-40B4-BE49-F238E27FC236}">
                <a16:creationId xmlns:a16="http://schemas.microsoft.com/office/drawing/2014/main" id="{A5F93EB9-1C03-4E39-8C87-6DACD33025D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3AF103-F05C-42D6-819D-104FD6851693}"/>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4253353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ACD1-4AB6-4328-9F5A-934B6AFC31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B48C08D-372F-42ED-9A0E-7EB69C2386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DFED604-6FD9-4191-B0FA-65D0CC245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0508E9-C325-49A3-A77A-9399639D82A6}"/>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6" name="Footer Placeholder 5">
            <a:extLst>
              <a:ext uri="{FF2B5EF4-FFF2-40B4-BE49-F238E27FC236}">
                <a16:creationId xmlns:a16="http://schemas.microsoft.com/office/drawing/2014/main" id="{A8D11124-A745-4E9F-939C-BC3DCD28A5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93C6B7-1C28-486A-8FC6-F3F925F67C4A}"/>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2583405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0D79B-9FEF-48FE-AC5D-47A012166AC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C5ADFC-A72B-4019-A7DE-1E19E756A8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B72CAB-FBC4-4049-88C3-5AAE121175D9}"/>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4F42EC83-71EB-418D-A0AD-87B4E9BF55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E17B15-82C6-4E5C-9FD3-6444EC776DFC}"/>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815585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F9602A-C790-4C3A-9287-60BA88AAD5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E4895FE-5468-445C-8580-328249432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2586DF-572E-4AEF-82FF-226CFF8B4FD3}"/>
              </a:ext>
            </a:extLst>
          </p:cNvPr>
          <p:cNvSpPr>
            <a:spLocks noGrp="1"/>
          </p:cNvSpPr>
          <p:nvPr>
            <p:ph type="dt" sz="half" idx="10"/>
          </p:nvPr>
        </p:nvSpPr>
        <p:spPr/>
        <p:txBody>
          <a:body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12E4F0CE-A04C-4241-9EFA-07715CA1C5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429E69-C397-463B-B4B1-10A20FF92378}"/>
              </a:ext>
            </a:extLst>
          </p:cNvPr>
          <p:cNvSpPr>
            <a:spLocks noGrp="1"/>
          </p:cNvSpPr>
          <p:nvPr>
            <p:ph type="sldNum" sz="quarter" idx="12"/>
          </p:nvPr>
        </p:nvSpPr>
        <p:spPr/>
        <p:txBody>
          <a:bodyPr/>
          <a:lstStyle/>
          <a:p>
            <a:fld id="{B1088633-80A7-4882-A36F-B6EB1EA243ED}" type="slidenum">
              <a:rPr lang="en-GB" smtClean="0"/>
              <a:t>‹#›</a:t>
            </a:fld>
            <a:endParaRPr lang="en-GB"/>
          </a:p>
        </p:txBody>
      </p:sp>
    </p:spTree>
    <p:extLst>
      <p:ext uri="{BB962C8B-B14F-4D97-AF65-F5344CB8AC3E}">
        <p14:creationId xmlns:p14="http://schemas.microsoft.com/office/powerpoint/2010/main" val="89080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4625F2-2310-4164-804A-1B753B1432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2F6730-9996-44F4-B91F-757EA9BE8C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CE27AB-5E93-4420-8BEE-B343AEA6C4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95ADAD-8418-41D1-A823-82EFBF46FA08}" type="datetimeFigureOut">
              <a:rPr lang="en-GB" smtClean="0"/>
              <a:t>22/04/2022</a:t>
            </a:fld>
            <a:endParaRPr lang="en-GB"/>
          </a:p>
        </p:txBody>
      </p:sp>
      <p:sp>
        <p:nvSpPr>
          <p:cNvPr id="5" name="Footer Placeholder 4">
            <a:extLst>
              <a:ext uri="{FF2B5EF4-FFF2-40B4-BE49-F238E27FC236}">
                <a16:creationId xmlns:a16="http://schemas.microsoft.com/office/drawing/2014/main" id="{C23B6909-F91C-4A34-A882-9BEBB887E0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43B5BCB-2C4D-4D35-901D-DD2EC4BDB4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88633-80A7-4882-A36F-B6EB1EA243ED}" type="slidenum">
              <a:rPr lang="en-GB" smtClean="0"/>
              <a:t>‹#›</a:t>
            </a:fld>
            <a:endParaRPr lang="en-GB"/>
          </a:p>
        </p:txBody>
      </p:sp>
    </p:spTree>
    <p:extLst>
      <p:ext uri="{BB962C8B-B14F-4D97-AF65-F5344CB8AC3E}">
        <p14:creationId xmlns:p14="http://schemas.microsoft.com/office/powerpoint/2010/main" val="109376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a:spLocks noGrp="1" noRot="1" noChangeAspect="1" noMove="1" noResize="1" noEditPoints="1" noAdjustHandles="1" noChangeArrowheads="1" noChangeShapeType="1" noTextEdit="1"/>
          </p:cNvSpPr>
          <p:nvPr/>
        </p:nvSpPr>
        <p:spPr>
          <a:xfrm>
            <a:off x="3175" y="1084263"/>
            <a:ext cx="12188825" cy="3294062"/>
          </a:xfrm>
          <a:prstGeom prst="rect">
            <a:avLst/>
          </a:prstGeom>
          <a:gradFill>
            <a:gsLst>
              <a:gs pos="0">
                <a:schemeClr val="accent2"/>
              </a:gs>
              <a:gs pos="25000">
                <a:schemeClr val="accent2"/>
              </a:gs>
              <a:gs pos="94000">
                <a:schemeClr val="accent1"/>
              </a:gs>
              <a:gs pos="100000">
                <a:schemeClr val="accent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5123" name="Picture 30"/>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8235" t="45502" r="8214"/>
          <a:stretch>
            <a:fillRect/>
          </a:stretch>
        </p:blipFill>
        <p:spPr bwMode="auto">
          <a:xfrm>
            <a:off x="0" y="0"/>
            <a:ext cx="121920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Subtitle 2"/>
          <p:cNvSpPr>
            <a:spLocks noGrp="1" noChangeArrowheads="1"/>
          </p:cNvSpPr>
          <p:nvPr>
            <p:ph type="subTitle" idx="1"/>
          </p:nvPr>
        </p:nvSpPr>
        <p:spPr>
          <a:xfrm>
            <a:off x="3998913" y="1754155"/>
            <a:ext cx="7869237" cy="2287758"/>
          </a:xfrm>
        </p:spPr>
        <p:txBody>
          <a:bodyPr anchor="ctr">
            <a:normAutofit fontScale="62500" lnSpcReduction="20000"/>
          </a:bodyPr>
          <a:lstStyle/>
          <a:p>
            <a:pPr algn="l">
              <a:lnSpc>
                <a:spcPct val="120000"/>
              </a:lnSpc>
              <a:spcBef>
                <a:spcPct val="0"/>
              </a:spcBef>
            </a:pPr>
            <a:endParaRPr lang="en-US" altLang="en-US" sz="4000" b="1" dirty="0">
              <a:solidFill>
                <a:schemeClr val="bg1"/>
              </a:solidFill>
            </a:endParaRPr>
          </a:p>
          <a:p>
            <a:pPr algn="l">
              <a:lnSpc>
                <a:spcPct val="120000"/>
              </a:lnSpc>
              <a:spcBef>
                <a:spcPct val="0"/>
              </a:spcBef>
            </a:pPr>
            <a:r>
              <a:rPr lang="en-US" altLang="en-US" sz="4000" b="1" dirty="0">
                <a:solidFill>
                  <a:schemeClr val="bg1"/>
                </a:solidFill>
              </a:rPr>
              <a:t>Community Systems Strengthening Project Implementation </a:t>
            </a:r>
          </a:p>
          <a:p>
            <a:pPr algn="l">
              <a:lnSpc>
                <a:spcPct val="120000"/>
              </a:lnSpc>
              <a:spcBef>
                <a:spcPct val="0"/>
              </a:spcBef>
            </a:pPr>
            <a:endParaRPr lang="en-US" altLang="en-US" sz="4000" b="1" dirty="0">
              <a:solidFill>
                <a:schemeClr val="bg1"/>
              </a:solidFill>
            </a:endParaRPr>
          </a:p>
          <a:p>
            <a:pPr>
              <a:lnSpc>
                <a:spcPct val="120000"/>
              </a:lnSpc>
              <a:spcBef>
                <a:spcPct val="0"/>
              </a:spcBef>
            </a:pPr>
            <a:r>
              <a:rPr lang="en-US" altLang="en-US" sz="4000" b="1" dirty="0">
                <a:solidFill>
                  <a:schemeClr val="bg1"/>
                </a:solidFill>
              </a:rPr>
              <a:t>APPLICANTS WELFARE DEVELOPMENT CENTER(AWANDEC)</a:t>
            </a:r>
          </a:p>
          <a:p>
            <a:pPr algn="l">
              <a:lnSpc>
                <a:spcPct val="120000"/>
              </a:lnSpc>
              <a:spcBef>
                <a:spcPct val="0"/>
              </a:spcBef>
            </a:pPr>
            <a:endParaRPr lang="en-US" altLang="en-US" sz="4000" b="1" dirty="0">
              <a:solidFill>
                <a:srgbClr val="002060"/>
              </a:solidFill>
            </a:endParaRPr>
          </a:p>
          <a:p>
            <a:pPr algn="l">
              <a:lnSpc>
                <a:spcPct val="120000"/>
              </a:lnSpc>
              <a:spcBef>
                <a:spcPct val="0"/>
              </a:spcBef>
            </a:pPr>
            <a:endParaRPr lang="en-US" altLang="en-US" sz="4000" b="1" dirty="0">
              <a:solidFill>
                <a:schemeClr val="bg1"/>
              </a:solidFill>
            </a:endParaRPr>
          </a:p>
        </p:txBody>
      </p:sp>
      <p:sp>
        <p:nvSpPr>
          <p:cNvPr id="33" name="Rectangle 32"/>
          <p:cNvSpPr>
            <a:spLocks noGrp="1" noRot="1" noChangeAspect="1" noMove="1" noResize="1" noEditPoints="1" noAdjustHandles="1" noChangeArrowheads="1" noChangeShapeType="1" noTextEdit="1"/>
          </p:cNvSpPr>
          <p:nvPr/>
        </p:nvSpPr>
        <p:spPr>
          <a:xfrm>
            <a:off x="0" y="6223000"/>
            <a:ext cx="12188825" cy="63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512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605963" y="5289550"/>
            <a:ext cx="197485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18" descr="Image result for USAID logo HD 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00" y="5595938"/>
            <a:ext cx="2182813"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0" y="6540500"/>
            <a:ext cx="12192000" cy="31750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11" name="Rectangle 10"/>
          <p:cNvSpPr/>
          <p:nvPr/>
        </p:nvSpPr>
        <p:spPr>
          <a:xfrm>
            <a:off x="-3175" y="-23813"/>
            <a:ext cx="12192000" cy="62547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513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25" y="1044575"/>
            <a:ext cx="3805238"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5660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0" y="0"/>
            <a:ext cx="12191760" cy="200160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141" name="TextShape 2"/>
          <p:cNvSpPr txBox="1"/>
          <p:nvPr/>
        </p:nvSpPr>
        <p:spPr>
          <a:xfrm>
            <a:off x="423720" y="244440"/>
            <a:ext cx="10515240" cy="933120"/>
          </a:xfrm>
          <a:prstGeom prst="rect">
            <a:avLst/>
          </a:prstGeom>
          <a:noFill/>
          <a:ln>
            <a:noFill/>
          </a:ln>
        </p:spPr>
        <p:txBody>
          <a:bodyPr anchor="b">
            <a:noAutofit/>
          </a:bodyPr>
          <a:lstStyle/>
          <a:p>
            <a:pPr>
              <a:lnSpc>
                <a:spcPct val="90000"/>
              </a:lnSpc>
            </a:pPr>
            <a:r>
              <a:rPr lang="en-US" sz="4000" b="1" spc="-1" dirty="0">
                <a:solidFill>
                  <a:srgbClr val="FFFFFF"/>
                </a:solidFill>
                <a:latin typeface="Gill Sans MT"/>
              </a:rPr>
              <a:t>Synopsis:</a:t>
            </a:r>
            <a:r>
              <a:rPr lang="en-US" sz="4000" b="1" strike="noStrike" spc="-1" dirty="0">
                <a:solidFill>
                  <a:srgbClr val="FFFFFF"/>
                </a:solidFill>
                <a:latin typeface="Gill Sans MT"/>
              </a:rPr>
              <a:t> </a:t>
            </a:r>
            <a:endParaRPr lang="en-US" sz="4000" b="0" strike="noStrike" spc="-1" dirty="0">
              <a:solidFill>
                <a:srgbClr val="000000"/>
              </a:solidFill>
              <a:latin typeface="Calibri"/>
            </a:endParaRPr>
          </a:p>
        </p:txBody>
      </p:sp>
      <p:sp>
        <p:nvSpPr>
          <p:cNvPr id="142"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D60E756F-06E2-4743-8F35-7A8D69780C8B}" type="datetime">
              <a:rPr lang="en-GB" sz="1200" b="0" strike="noStrike" spc="-1">
                <a:solidFill>
                  <a:srgbClr val="8B8B8B"/>
                </a:solidFill>
                <a:latin typeface="Calibri"/>
              </a:rPr>
              <a:t>22/04/2022</a:t>
            </a:fld>
            <a:endParaRPr lang="en-GB" sz="1200" b="0" strike="noStrike" spc="-1">
              <a:latin typeface="Times New Roman"/>
            </a:endParaRPr>
          </a:p>
        </p:txBody>
      </p:sp>
      <p:sp>
        <p:nvSpPr>
          <p:cNvPr id="143"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7AB05016-95E4-4B57-84D6-1238BB6E94DF}" type="slidenum">
              <a:rPr lang="en-GB" sz="1200" b="0" strike="noStrike" spc="-1">
                <a:solidFill>
                  <a:srgbClr val="898989"/>
                </a:solidFill>
                <a:latin typeface="Calibri"/>
              </a:rPr>
              <a:t>2</a:t>
            </a:fld>
            <a:endParaRPr lang="en-GB" sz="1200" b="0" strike="noStrike" spc="-1">
              <a:latin typeface="Times New Roman"/>
            </a:endParaRPr>
          </a:p>
        </p:txBody>
      </p:sp>
      <p:sp>
        <p:nvSpPr>
          <p:cNvPr id="144"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grpSp>
        <p:nvGrpSpPr>
          <p:cNvPr id="145" name="Group 6"/>
          <p:cNvGrpSpPr/>
          <p:nvPr/>
        </p:nvGrpSpPr>
        <p:grpSpPr>
          <a:xfrm>
            <a:off x="1116000" y="2270160"/>
            <a:ext cx="736200" cy="436320"/>
            <a:chOff x="1116000" y="2270160"/>
            <a:chExt cx="736200" cy="436320"/>
          </a:xfrm>
        </p:grpSpPr>
        <p:sp>
          <p:nvSpPr>
            <p:cNvPr id="146" name="CustomShape 7"/>
            <p:cNvSpPr/>
            <p:nvPr/>
          </p:nvSpPr>
          <p:spPr>
            <a:xfrm>
              <a:off x="1116000" y="2270160"/>
              <a:ext cx="661680" cy="3934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47" name="CustomShape 8"/>
            <p:cNvSpPr/>
            <p:nvPr/>
          </p:nvSpPr>
          <p:spPr>
            <a:xfrm>
              <a:off x="1190520" y="2313000"/>
              <a:ext cx="661680" cy="3934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a:solidFill>
                    <a:srgbClr val="FFFFFF"/>
                  </a:solidFill>
                  <a:latin typeface="Calibri Light"/>
                </a:rPr>
                <a:t>1</a:t>
              </a:r>
              <a:endParaRPr lang="en-GB" sz="2800" b="0" strike="noStrike" spc="-1">
                <a:latin typeface="Arial"/>
              </a:endParaRPr>
            </a:p>
          </p:txBody>
        </p:sp>
      </p:grpSp>
      <p:grpSp>
        <p:nvGrpSpPr>
          <p:cNvPr id="148" name="Group 9"/>
          <p:cNvGrpSpPr/>
          <p:nvPr/>
        </p:nvGrpSpPr>
        <p:grpSpPr>
          <a:xfrm>
            <a:off x="1116000" y="2784600"/>
            <a:ext cx="736200" cy="434520"/>
            <a:chOff x="1116000" y="2784600"/>
            <a:chExt cx="736200" cy="434520"/>
          </a:xfrm>
        </p:grpSpPr>
        <p:sp>
          <p:nvSpPr>
            <p:cNvPr id="149" name="CustomShape 10"/>
            <p:cNvSpPr/>
            <p:nvPr/>
          </p:nvSpPr>
          <p:spPr>
            <a:xfrm>
              <a:off x="1116000" y="2784600"/>
              <a:ext cx="661680" cy="3916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50" name="CustomShape 11"/>
            <p:cNvSpPr/>
            <p:nvPr/>
          </p:nvSpPr>
          <p:spPr>
            <a:xfrm>
              <a:off x="1190520" y="2827440"/>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a:solidFill>
                    <a:srgbClr val="FFFFFF"/>
                  </a:solidFill>
                  <a:latin typeface="Calibri Light"/>
                </a:rPr>
                <a:t>2</a:t>
              </a:r>
              <a:endParaRPr lang="en-GB" sz="2800" b="0" strike="noStrike" spc="-1">
                <a:latin typeface="Arial"/>
              </a:endParaRPr>
            </a:p>
          </p:txBody>
        </p:sp>
      </p:grpSp>
      <p:grpSp>
        <p:nvGrpSpPr>
          <p:cNvPr id="151" name="Group 12"/>
          <p:cNvGrpSpPr/>
          <p:nvPr/>
        </p:nvGrpSpPr>
        <p:grpSpPr>
          <a:xfrm>
            <a:off x="1116000" y="3282840"/>
            <a:ext cx="736200" cy="436320"/>
            <a:chOff x="1116000" y="3282840"/>
            <a:chExt cx="736200" cy="436320"/>
          </a:xfrm>
        </p:grpSpPr>
        <p:sp>
          <p:nvSpPr>
            <p:cNvPr id="152" name="CustomShape 13"/>
            <p:cNvSpPr/>
            <p:nvPr/>
          </p:nvSpPr>
          <p:spPr>
            <a:xfrm>
              <a:off x="1116000" y="3282840"/>
              <a:ext cx="661680" cy="3934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53" name="CustomShape 14"/>
            <p:cNvSpPr/>
            <p:nvPr/>
          </p:nvSpPr>
          <p:spPr>
            <a:xfrm>
              <a:off x="1190520" y="3325680"/>
              <a:ext cx="661680" cy="3934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a:solidFill>
                    <a:srgbClr val="FFFFFF"/>
                  </a:solidFill>
                  <a:latin typeface="Calibri Light"/>
                </a:rPr>
                <a:t>3</a:t>
              </a:r>
              <a:endParaRPr lang="en-GB" sz="2800" b="0" strike="noStrike" spc="-1">
                <a:latin typeface="Arial"/>
              </a:endParaRPr>
            </a:p>
          </p:txBody>
        </p:sp>
      </p:grpSp>
      <p:grpSp>
        <p:nvGrpSpPr>
          <p:cNvPr id="154" name="Group 15"/>
          <p:cNvGrpSpPr/>
          <p:nvPr/>
        </p:nvGrpSpPr>
        <p:grpSpPr>
          <a:xfrm>
            <a:off x="1116000" y="3776760"/>
            <a:ext cx="736200" cy="434520"/>
            <a:chOff x="1116000" y="3776760"/>
            <a:chExt cx="736200" cy="434520"/>
          </a:xfrm>
        </p:grpSpPr>
        <p:sp>
          <p:nvSpPr>
            <p:cNvPr id="155" name="CustomShape 16"/>
            <p:cNvSpPr/>
            <p:nvPr/>
          </p:nvSpPr>
          <p:spPr>
            <a:xfrm>
              <a:off x="1116000" y="3776760"/>
              <a:ext cx="661680" cy="3916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56" name="CustomShape 17"/>
            <p:cNvSpPr/>
            <p:nvPr/>
          </p:nvSpPr>
          <p:spPr>
            <a:xfrm>
              <a:off x="1190520" y="3819600"/>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dirty="0">
                  <a:solidFill>
                    <a:srgbClr val="FFFFFF"/>
                  </a:solidFill>
                  <a:latin typeface="Calibri Light"/>
                </a:rPr>
                <a:t>4</a:t>
              </a:r>
              <a:endParaRPr lang="en-GB" sz="2800" b="0" strike="noStrike" spc="-1" dirty="0">
                <a:latin typeface="Arial"/>
              </a:endParaRPr>
            </a:p>
          </p:txBody>
        </p:sp>
      </p:grpSp>
      <p:grpSp>
        <p:nvGrpSpPr>
          <p:cNvPr id="157" name="Group 18"/>
          <p:cNvGrpSpPr/>
          <p:nvPr/>
        </p:nvGrpSpPr>
        <p:grpSpPr>
          <a:xfrm>
            <a:off x="1116000" y="4280040"/>
            <a:ext cx="736200" cy="434520"/>
            <a:chOff x="1116000" y="4280040"/>
            <a:chExt cx="736200" cy="434520"/>
          </a:xfrm>
        </p:grpSpPr>
        <p:sp>
          <p:nvSpPr>
            <p:cNvPr id="158" name="CustomShape 19"/>
            <p:cNvSpPr/>
            <p:nvPr/>
          </p:nvSpPr>
          <p:spPr>
            <a:xfrm>
              <a:off x="1116000" y="4280040"/>
              <a:ext cx="661680" cy="3916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59" name="CustomShape 20"/>
            <p:cNvSpPr/>
            <p:nvPr/>
          </p:nvSpPr>
          <p:spPr>
            <a:xfrm>
              <a:off x="1190520" y="4322880"/>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a:solidFill>
                    <a:srgbClr val="FFFFFF"/>
                  </a:solidFill>
                  <a:latin typeface="Calibri Light"/>
                </a:rPr>
                <a:t>5</a:t>
              </a:r>
              <a:endParaRPr lang="en-GB" sz="2800" b="0" strike="noStrike" spc="-1">
                <a:latin typeface="Arial"/>
              </a:endParaRPr>
            </a:p>
          </p:txBody>
        </p:sp>
      </p:grpSp>
      <p:grpSp>
        <p:nvGrpSpPr>
          <p:cNvPr id="160" name="Group 21"/>
          <p:cNvGrpSpPr/>
          <p:nvPr/>
        </p:nvGrpSpPr>
        <p:grpSpPr>
          <a:xfrm>
            <a:off x="1116000" y="4800600"/>
            <a:ext cx="736200" cy="434520"/>
            <a:chOff x="1116000" y="4800600"/>
            <a:chExt cx="736200" cy="434520"/>
          </a:xfrm>
        </p:grpSpPr>
        <p:sp>
          <p:nvSpPr>
            <p:cNvPr id="161" name="CustomShape 22"/>
            <p:cNvSpPr/>
            <p:nvPr/>
          </p:nvSpPr>
          <p:spPr>
            <a:xfrm>
              <a:off x="1116000" y="4800600"/>
              <a:ext cx="661680" cy="3916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62" name="CustomShape 23"/>
            <p:cNvSpPr/>
            <p:nvPr/>
          </p:nvSpPr>
          <p:spPr>
            <a:xfrm>
              <a:off x="1190520" y="4843440"/>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a:solidFill>
                    <a:srgbClr val="FFFFFF"/>
                  </a:solidFill>
                  <a:latin typeface="Calibri Light"/>
                </a:rPr>
                <a:t>6</a:t>
              </a:r>
              <a:endParaRPr lang="en-GB" sz="2800" b="0" strike="noStrike" spc="-1">
                <a:latin typeface="Arial"/>
              </a:endParaRPr>
            </a:p>
          </p:txBody>
        </p:sp>
      </p:grpSp>
      <p:sp>
        <p:nvSpPr>
          <p:cNvPr id="163" name="CustomShape 24"/>
          <p:cNvSpPr/>
          <p:nvPr/>
        </p:nvSpPr>
        <p:spPr>
          <a:xfrm>
            <a:off x="2165400" y="2216160"/>
            <a:ext cx="8910360" cy="53316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Overview of specific CSO Community systems strengthening FY’22 Targets and  Expected deliverables</a:t>
            </a:r>
          </a:p>
        </p:txBody>
      </p:sp>
      <p:sp>
        <p:nvSpPr>
          <p:cNvPr id="164" name="CustomShape 25"/>
          <p:cNvSpPr/>
          <p:nvPr/>
        </p:nvSpPr>
        <p:spPr>
          <a:xfrm>
            <a:off x="2165400" y="2822400"/>
            <a:ext cx="8910360" cy="39636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Summary of Achievements and strategies employed</a:t>
            </a:r>
          </a:p>
        </p:txBody>
      </p:sp>
      <p:sp>
        <p:nvSpPr>
          <p:cNvPr id="165" name="CustomShape 26"/>
          <p:cNvSpPr/>
          <p:nvPr/>
        </p:nvSpPr>
        <p:spPr>
          <a:xfrm>
            <a:off x="2152563" y="3312486"/>
            <a:ext cx="8910360" cy="39168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Birth Registration target, achievements against targets and plans to the excess if any</a:t>
            </a:r>
          </a:p>
        </p:txBody>
      </p:sp>
      <p:sp>
        <p:nvSpPr>
          <p:cNvPr id="166" name="CustomShape 27"/>
          <p:cNvSpPr/>
          <p:nvPr/>
        </p:nvSpPr>
        <p:spPr>
          <a:xfrm>
            <a:off x="2165400" y="3783014"/>
            <a:ext cx="8910360" cy="40140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CIT implementation, key achievements and plans</a:t>
            </a:r>
          </a:p>
        </p:txBody>
      </p:sp>
      <p:sp>
        <p:nvSpPr>
          <p:cNvPr id="167" name="CustomShape 28"/>
          <p:cNvSpPr/>
          <p:nvPr/>
        </p:nvSpPr>
        <p:spPr>
          <a:xfrm>
            <a:off x="2165400" y="4290756"/>
            <a:ext cx="8910360" cy="42984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LGA engagements strategies and plans</a:t>
            </a:r>
          </a:p>
        </p:txBody>
      </p:sp>
      <p:sp>
        <p:nvSpPr>
          <p:cNvPr id="168" name="CustomShape 29"/>
          <p:cNvSpPr/>
          <p:nvPr/>
        </p:nvSpPr>
        <p:spPr>
          <a:xfrm>
            <a:off x="2165400" y="4814322"/>
            <a:ext cx="8910360" cy="42984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Where you need support</a:t>
            </a:r>
          </a:p>
        </p:txBody>
      </p:sp>
      <p:grpSp>
        <p:nvGrpSpPr>
          <p:cNvPr id="169" name="Group 30"/>
          <p:cNvGrpSpPr/>
          <p:nvPr/>
        </p:nvGrpSpPr>
        <p:grpSpPr>
          <a:xfrm>
            <a:off x="1111320" y="5303880"/>
            <a:ext cx="736200" cy="434520"/>
            <a:chOff x="1111320" y="5303880"/>
            <a:chExt cx="736200" cy="434520"/>
          </a:xfrm>
        </p:grpSpPr>
        <p:sp>
          <p:nvSpPr>
            <p:cNvPr id="170" name="CustomShape 31"/>
            <p:cNvSpPr/>
            <p:nvPr/>
          </p:nvSpPr>
          <p:spPr>
            <a:xfrm>
              <a:off x="1111320" y="5303880"/>
              <a:ext cx="661680" cy="391680"/>
            </a:xfrm>
            <a:prstGeom prst="homePlate">
              <a:avLst>
                <a:gd name="adj" fmla="val 0"/>
              </a:avLst>
            </a:prstGeom>
            <a:solidFill>
              <a:srgbClr val="A5CEEE"/>
            </a:solidFill>
            <a:ln w="19080">
              <a:solidFill>
                <a:srgbClr val="284460"/>
              </a:solidFill>
              <a:round/>
            </a:ln>
          </p:spPr>
          <p:style>
            <a:lnRef idx="0">
              <a:scrgbClr r="0" g="0" b="0"/>
            </a:lnRef>
            <a:fillRef idx="0">
              <a:scrgbClr r="0" g="0" b="0"/>
            </a:fillRef>
            <a:effectRef idx="0">
              <a:scrgbClr r="0" g="0" b="0"/>
            </a:effectRef>
            <a:fontRef idx="minor"/>
          </p:style>
        </p:sp>
        <p:sp>
          <p:nvSpPr>
            <p:cNvPr id="171" name="CustomShape 32"/>
            <p:cNvSpPr/>
            <p:nvPr/>
          </p:nvSpPr>
          <p:spPr>
            <a:xfrm>
              <a:off x="1185840" y="5346720"/>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1" strike="noStrike" spc="-1" dirty="0">
                  <a:solidFill>
                    <a:srgbClr val="FFFFFF"/>
                  </a:solidFill>
                  <a:latin typeface="Calibri Light"/>
                </a:rPr>
                <a:t>7</a:t>
              </a:r>
              <a:endParaRPr lang="en-GB" sz="2800" b="0" strike="noStrike" spc="-1" dirty="0">
                <a:latin typeface="Arial"/>
              </a:endParaRPr>
            </a:p>
          </p:txBody>
        </p:sp>
      </p:grpSp>
      <p:sp>
        <p:nvSpPr>
          <p:cNvPr id="172" name="CustomShape 33"/>
          <p:cNvSpPr/>
          <p:nvPr/>
        </p:nvSpPr>
        <p:spPr>
          <a:xfrm>
            <a:off x="2165400" y="5290192"/>
            <a:ext cx="8910360" cy="42984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What do you want change in the way CCCRN supports you </a:t>
            </a:r>
          </a:p>
        </p:txBody>
      </p:sp>
      <p:sp>
        <p:nvSpPr>
          <p:cNvPr id="35" name="CustomShape 32">
            <a:extLst>
              <a:ext uri="{FF2B5EF4-FFF2-40B4-BE49-F238E27FC236}">
                <a16:creationId xmlns:a16="http://schemas.microsoft.com/office/drawing/2014/main" id="{3A7181F2-1F16-4B54-B8E1-AAD863D10E98}"/>
              </a:ext>
            </a:extLst>
          </p:cNvPr>
          <p:cNvSpPr/>
          <p:nvPr/>
        </p:nvSpPr>
        <p:spPr>
          <a:xfrm>
            <a:off x="1095277" y="5828919"/>
            <a:ext cx="661680" cy="391680"/>
          </a:xfrm>
          <a:prstGeom prst="homePlate">
            <a:avLst>
              <a:gd name="adj" fmla="val 0"/>
            </a:avLst>
          </a:prstGeom>
          <a:solidFill>
            <a:srgbClr val="284460"/>
          </a:solidFill>
          <a:ln w="19080">
            <a:solidFill>
              <a:schemeClr val="bg1">
                <a:lumMod val="95000"/>
              </a:schemeClr>
            </a:solidFill>
            <a:round/>
          </a:ln>
        </p:spPr>
        <p:style>
          <a:lnRef idx="0">
            <a:scrgbClr r="0" g="0" b="0"/>
          </a:lnRef>
          <a:fillRef idx="0">
            <a:scrgbClr r="0" g="0" b="0"/>
          </a:fillRef>
          <a:effectRef idx="0">
            <a:scrgbClr r="0" g="0" b="0"/>
          </a:effectRef>
          <a:fontRef idx="minor"/>
        </p:style>
        <p:txBody>
          <a:bodyPr wrap="none" lIns="0" tIns="0" rIns="0" bIns="0" anchor="ctr">
            <a:noAutofit/>
          </a:bodyPr>
          <a:lstStyle/>
          <a:p>
            <a:pPr algn="ctr">
              <a:lnSpc>
                <a:spcPct val="100000"/>
              </a:lnSpc>
              <a:spcBef>
                <a:spcPts val="612"/>
              </a:spcBef>
            </a:pPr>
            <a:r>
              <a:rPr lang="en-GB" sz="2800" b="0" strike="noStrike" spc="-1" dirty="0">
                <a:solidFill>
                  <a:schemeClr val="bg1"/>
                </a:solidFill>
                <a:latin typeface="Arial"/>
              </a:rPr>
              <a:t>8</a:t>
            </a:r>
          </a:p>
        </p:txBody>
      </p:sp>
      <p:sp>
        <p:nvSpPr>
          <p:cNvPr id="36" name="CustomShape 33">
            <a:extLst>
              <a:ext uri="{FF2B5EF4-FFF2-40B4-BE49-F238E27FC236}">
                <a16:creationId xmlns:a16="http://schemas.microsoft.com/office/drawing/2014/main" id="{62C3458D-418B-4667-9658-AA86E4908B50}"/>
              </a:ext>
            </a:extLst>
          </p:cNvPr>
          <p:cNvSpPr/>
          <p:nvPr/>
        </p:nvSpPr>
        <p:spPr>
          <a:xfrm>
            <a:off x="2152563" y="5826374"/>
            <a:ext cx="8910360" cy="429840"/>
          </a:xfrm>
          <a:prstGeom prst="rect">
            <a:avLst/>
          </a:prstGeom>
          <a:ln>
            <a:solidFill>
              <a:schemeClr val="accent1"/>
            </a:solidFill>
          </a:ln>
        </p:spPr>
        <p:style>
          <a:lnRef idx="2">
            <a:schemeClr val="dk1"/>
          </a:lnRef>
          <a:fillRef idx="1">
            <a:schemeClr val="lt1"/>
          </a:fillRef>
          <a:effectRef idx="0">
            <a:schemeClr val="dk1"/>
          </a:effectRef>
          <a:fontRef idx="minor"/>
        </p:style>
        <p:txBody>
          <a:bodyPr/>
          <a:lstStyle/>
          <a:p>
            <a:r>
              <a:rPr lang="en-GB" dirty="0"/>
              <a:t>Key pending activities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903226" y="21851"/>
            <a:ext cx="10697428" cy="1300583"/>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r>
              <a:rPr lang="en-GB" sz="3600" dirty="0">
                <a:solidFill>
                  <a:schemeClr val="bg1"/>
                </a:solidFill>
              </a:rPr>
              <a:t>Overview of specific CSO Community systems strengthening FY’21 Targets and Expected deliverables</a:t>
            </a:r>
            <a:endParaRPr lang="x-none" dirty="0"/>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3</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graphicFrame>
        <p:nvGraphicFramePr>
          <p:cNvPr id="4" name="Table 5">
            <a:extLst>
              <a:ext uri="{FF2B5EF4-FFF2-40B4-BE49-F238E27FC236}">
                <a16:creationId xmlns:a16="http://schemas.microsoft.com/office/drawing/2014/main" id="{0C2983DB-EAD6-47EF-A6E5-9E6BB72BA52D}"/>
              </a:ext>
            </a:extLst>
          </p:cNvPr>
          <p:cNvGraphicFramePr>
            <a:graphicFrameLocks noGrp="1"/>
          </p:cNvGraphicFramePr>
          <p:nvPr>
            <p:extLst>
              <p:ext uri="{D42A27DB-BD31-4B8C-83A1-F6EECF244321}">
                <p14:modId xmlns:p14="http://schemas.microsoft.com/office/powerpoint/2010/main" val="555548368"/>
              </p:ext>
            </p:extLst>
          </p:nvPr>
        </p:nvGraphicFramePr>
        <p:xfrm>
          <a:off x="190500" y="1352905"/>
          <a:ext cx="11812815" cy="4362293"/>
        </p:xfrm>
        <a:graphic>
          <a:graphicData uri="http://schemas.openxmlformats.org/drawingml/2006/table">
            <a:tbl>
              <a:tblPr firstRow="1" bandRow="1">
                <a:tableStyleId>{5C22544A-7EE6-4342-B048-85BDC9FD1C3A}</a:tableStyleId>
              </a:tblPr>
              <a:tblGrid>
                <a:gridCol w="6762673">
                  <a:extLst>
                    <a:ext uri="{9D8B030D-6E8A-4147-A177-3AD203B41FA5}">
                      <a16:colId xmlns:a16="http://schemas.microsoft.com/office/drawing/2014/main" val="1847063879"/>
                    </a:ext>
                  </a:extLst>
                </a:gridCol>
                <a:gridCol w="5050142">
                  <a:extLst>
                    <a:ext uri="{9D8B030D-6E8A-4147-A177-3AD203B41FA5}">
                      <a16:colId xmlns:a16="http://schemas.microsoft.com/office/drawing/2014/main" val="932227953"/>
                    </a:ext>
                  </a:extLst>
                </a:gridCol>
              </a:tblGrid>
              <a:tr h="3411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bg1"/>
                          </a:solidFill>
                        </a:rPr>
                        <a:t>Targets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bg1"/>
                          </a:solidFill>
                        </a:rPr>
                        <a:t>Expected deliverables</a:t>
                      </a:r>
                      <a:endParaRPr lang="en-US" dirty="0"/>
                    </a:p>
                  </a:txBody>
                  <a:tcPr/>
                </a:tc>
                <a:extLst>
                  <a:ext uri="{0D108BD9-81ED-4DB2-BD59-A6C34878D82A}">
                    <a16:rowId xmlns:a16="http://schemas.microsoft.com/office/drawing/2014/main" val="3090975488"/>
                  </a:ext>
                </a:extLst>
              </a:tr>
              <a:tr h="85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Set-up at least 6 CQIT/CITs/CPC and conduct capacity assessment for existing ones to promote community participation in OVC program implementation and monitoring</a:t>
                      </a:r>
                    </a:p>
                  </a:txBody>
                  <a:tcPr/>
                </a:tc>
                <a:tc>
                  <a:txBody>
                    <a:bodyPr/>
                    <a:lstStyle/>
                    <a:p>
                      <a:r>
                        <a:rPr lang="en-US" dirty="0"/>
                        <a:t>Reactivate existing/set up 6 CPC/CQIT in 4 LGAs </a:t>
                      </a:r>
                    </a:p>
                  </a:txBody>
                  <a:tcPr/>
                </a:tc>
                <a:extLst>
                  <a:ext uri="{0D108BD9-81ED-4DB2-BD59-A6C34878D82A}">
                    <a16:rowId xmlns:a16="http://schemas.microsoft.com/office/drawing/2014/main" val="695733005"/>
                  </a:ext>
                </a:extLst>
              </a:tr>
              <a:tr h="656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Facilitate access to Birth registration and Birth certificate issuance to children without Birth certificate</a:t>
                      </a:r>
                    </a:p>
                  </a:txBody>
                  <a:tcPr/>
                </a:tc>
                <a:tc>
                  <a:txBody>
                    <a:bodyPr/>
                    <a:lstStyle/>
                    <a:p>
                      <a:r>
                        <a:rPr lang="en-US" dirty="0"/>
                        <a:t>Ensure 1200 and more OVC are provided birth certificate</a:t>
                      </a:r>
                    </a:p>
                  </a:txBody>
                  <a:tcPr/>
                </a:tc>
                <a:extLst>
                  <a:ext uri="{0D108BD9-81ED-4DB2-BD59-A6C34878D82A}">
                    <a16:rowId xmlns:a16="http://schemas.microsoft.com/office/drawing/2014/main" val="687529906"/>
                  </a:ext>
                </a:extLst>
              </a:tr>
              <a:tr h="597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Set-up and hold quarterly meeting with LGA Coordination Task Team </a:t>
                      </a:r>
                    </a:p>
                  </a:txBody>
                  <a:tcPr/>
                </a:tc>
                <a:tc>
                  <a:txBody>
                    <a:bodyPr/>
                    <a:lstStyle/>
                    <a:p>
                      <a:r>
                        <a:rPr lang="en-US" dirty="0"/>
                        <a:t>Hold CIT meetings in 2 LGAs</a:t>
                      </a:r>
                    </a:p>
                  </a:txBody>
                  <a:tcPr/>
                </a:tc>
                <a:extLst>
                  <a:ext uri="{0D108BD9-81ED-4DB2-BD59-A6C34878D82A}">
                    <a16:rowId xmlns:a16="http://schemas.microsoft.com/office/drawing/2014/main" val="3330834156"/>
                  </a:ext>
                </a:extLst>
              </a:tr>
              <a:tr h="85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Conduct mapping of community structures and update the community- facility entry points/referral directory e.g. TBA/FBA/Community clinics </a:t>
                      </a:r>
                      <a:r>
                        <a:rPr lang="en-US" dirty="0" err="1"/>
                        <a:t>etc</a:t>
                      </a:r>
                      <a:r>
                        <a:rPr lang="en-US" dirty="0"/>
                        <a:t> in Project LGAs</a:t>
                      </a:r>
                    </a:p>
                  </a:txBody>
                  <a:tcPr/>
                </a:tc>
                <a:tc>
                  <a:txBody>
                    <a:bodyPr/>
                    <a:lstStyle/>
                    <a:p>
                      <a:r>
                        <a:rPr lang="en-US" dirty="0"/>
                        <a:t>Map TBA/FBA within coverage areas, get contact details, attend meetings and provide </a:t>
                      </a:r>
                      <a:r>
                        <a:rPr lang="en-US" dirty="0" err="1"/>
                        <a:t>HTS</a:t>
                      </a:r>
                      <a:r>
                        <a:rPr lang="en-US" dirty="0"/>
                        <a:t> support</a:t>
                      </a:r>
                    </a:p>
                  </a:txBody>
                  <a:tcPr/>
                </a:tc>
                <a:extLst>
                  <a:ext uri="{0D108BD9-81ED-4DB2-BD59-A6C34878D82A}">
                    <a16:rowId xmlns:a16="http://schemas.microsoft.com/office/drawing/2014/main" val="1086214437"/>
                  </a:ext>
                </a:extLst>
              </a:tr>
              <a:tr h="852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Conduct at least 3 Community dialogue sessions on HIV/AIDS related stigma reduction, child protection and gender knowledge sessions during through community structures</a:t>
                      </a:r>
                    </a:p>
                  </a:txBody>
                  <a:tcPr/>
                </a:tc>
                <a:tc>
                  <a:txBody>
                    <a:bodyPr/>
                    <a:lstStyle/>
                    <a:p>
                      <a:r>
                        <a:rPr lang="en-US" dirty="0"/>
                        <a:t>Engage with stakeholders in 3 communities across 3 LGAs for dialogue sessions</a:t>
                      </a:r>
                    </a:p>
                  </a:txBody>
                  <a:tcPr/>
                </a:tc>
                <a:extLst>
                  <a:ext uri="{0D108BD9-81ED-4DB2-BD59-A6C34878D82A}">
                    <a16:rowId xmlns:a16="http://schemas.microsoft.com/office/drawing/2014/main" val="401137044"/>
                  </a:ext>
                </a:extLst>
              </a:tr>
            </a:tbl>
          </a:graphicData>
        </a:graphic>
      </p:graphicFrame>
    </p:spTree>
    <p:extLst>
      <p:ext uri="{BB962C8B-B14F-4D97-AF65-F5344CB8AC3E}">
        <p14:creationId xmlns:p14="http://schemas.microsoft.com/office/powerpoint/2010/main" val="239129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0" y="0"/>
            <a:ext cx="12191760" cy="1001486"/>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dirty="0"/>
          </a:p>
          <a:p>
            <a:r>
              <a:rPr lang="en-GB" sz="3600" b="1" dirty="0">
                <a:solidFill>
                  <a:schemeClr val="bg1"/>
                </a:solidFill>
              </a:rPr>
              <a:t>Summary of Achievements and strategies employed</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4</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graphicFrame>
        <p:nvGraphicFramePr>
          <p:cNvPr id="3" name="Table 3">
            <a:extLst>
              <a:ext uri="{FF2B5EF4-FFF2-40B4-BE49-F238E27FC236}">
                <a16:creationId xmlns:a16="http://schemas.microsoft.com/office/drawing/2014/main" id="{15261E76-9C3F-4F0F-98EE-6539FDC2EBC4}"/>
              </a:ext>
            </a:extLst>
          </p:cNvPr>
          <p:cNvGraphicFramePr>
            <a:graphicFrameLocks noGrp="1"/>
          </p:cNvGraphicFramePr>
          <p:nvPr>
            <p:extLst>
              <p:ext uri="{D42A27DB-BD31-4B8C-83A1-F6EECF244321}">
                <p14:modId xmlns:p14="http://schemas.microsoft.com/office/powerpoint/2010/main" val="224009704"/>
              </p:ext>
            </p:extLst>
          </p:nvPr>
        </p:nvGraphicFramePr>
        <p:xfrm>
          <a:off x="306701" y="1091474"/>
          <a:ext cx="11461579" cy="4942840"/>
        </p:xfrm>
        <a:graphic>
          <a:graphicData uri="http://schemas.openxmlformats.org/drawingml/2006/table">
            <a:tbl>
              <a:tblPr firstRow="1" bandRow="1">
                <a:tableStyleId>{5C22544A-7EE6-4342-B048-85BDC9FD1C3A}</a:tableStyleId>
              </a:tblPr>
              <a:tblGrid>
                <a:gridCol w="3737265">
                  <a:extLst>
                    <a:ext uri="{9D8B030D-6E8A-4147-A177-3AD203B41FA5}">
                      <a16:colId xmlns:a16="http://schemas.microsoft.com/office/drawing/2014/main" val="3683160338"/>
                    </a:ext>
                  </a:extLst>
                </a:gridCol>
                <a:gridCol w="7724314">
                  <a:extLst>
                    <a:ext uri="{9D8B030D-6E8A-4147-A177-3AD203B41FA5}">
                      <a16:colId xmlns:a16="http://schemas.microsoft.com/office/drawing/2014/main" val="1498109717"/>
                    </a:ext>
                  </a:extLst>
                </a:gridCol>
              </a:tblGrid>
              <a:tr h="370840">
                <a:tc>
                  <a:txBody>
                    <a:bodyPr/>
                    <a:lstStyle/>
                    <a:p>
                      <a:r>
                        <a:rPr lang="en-GB" sz="1800" b="1" dirty="0">
                          <a:solidFill>
                            <a:schemeClr val="bg1"/>
                          </a:solidFill>
                        </a:rPr>
                        <a:t>Achievements</a:t>
                      </a:r>
                      <a:endParaRPr lang="en-US" dirty="0"/>
                    </a:p>
                  </a:txBody>
                  <a:tcPr/>
                </a:tc>
                <a:tc>
                  <a:txBody>
                    <a:bodyPr/>
                    <a:lstStyle/>
                    <a:p>
                      <a:r>
                        <a:rPr lang="en-GB" sz="1800" b="1" dirty="0">
                          <a:solidFill>
                            <a:schemeClr val="bg1"/>
                          </a:solidFill>
                        </a:rPr>
                        <a:t>Strategies employed</a:t>
                      </a:r>
                      <a:endParaRPr lang="en-US" dirty="0"/>
                    </a:p>
                  </a:txBody>
                  <a:tcPr/>
                </a:tc>
                <a:extLst>
                  <a:ext uri="{0D108BD9-81ED-4DB2-BD59-A6C34878D82A}">
                    <a16:rowId xmlns:a16="http://schemas.microsoft.com/office/drawing/2014/main" val="34333242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Facilitated the provision of birth certificates for 102 OVC</a:t>
                      </a:r>
                    </a:p>
                    <a:p>
                      <a:endParaRPr lang="en-US" dirty="0"/>
                    </a:p>
                  </a:txBody>
                  <a:tcPr/>
                </a:tc>
                <a:tc>
                  <a:txBody>
                    <a:bodyPr/>
                    <a:lstStyle/>
                    <a:p>
                      <a:pPr marL="285750" indent="-285750">
                        <a:buFont typeface="Arial" panose="020B0604020202020204" pitchFamily="34" charset="0"/>
                        <a:buChar char="•"/>
                      </a:pPr>
                      <a:r>
                        <a:rPr lang="en-US" dirty="0"/>
                        <a:t>Form B1 was issued to the CCWs for registration</a:t>
                      </a:r>
                    </a:p>
                    <a:p>
                      <a:pPr marL="285750" indent="-285750">
                        <a:buFont typeface="Arial" panose="020B0604020202020204" pitchFamily="34" charset="0"/>
                        <a:buChar char="•"/>
                      </a:pPr>
                      <a:r>
                        <a:rPr lang="en-US" dirty="0"/>
                        <a:t>The completed form B1 was given to </a:t>
                      </a:r>
                      <a:r>
                        <a:rPr lang="en-US" dirty="0" err="1"/>
                        <a:t>NPOPc</a:t>
                      </a:r>
                      <a:r>
                        <a:rPr lang="en-US" dirty="0"/>
                        <a:t> for registration</a:t>
                      </a:r>
                    </a:p>
                    <a:p>
                      <a:pPr marL="285750" indent="-285750">
                        <a:buFont typeface="Arial" panose="020B0604020202020204" pitchFamily="34" charset="0"/>
                        <a:buChar char="•"/>
                      </a:pPr>
                      <a:r>
                        <a:rPr lang="en-US" dirty="0"/>
                        <a:t>Form B2 was retrieved from </a:t>
                      </a:r>
                      <a:r>
                        <a:rPr lang="en-US" dirty="0" err="1"/>
                        <a:t>NPOPc</a:t>
                      </a:r>
                      <a:r>
                        <a:rPr lang="en-US" dirty="0"/>
                        <a:t> and given to CCWs</a:t>
                      </a:r>
                    </a:p>
                    <a:p>
                      <a:pPr marL="285750" indent="-285750">
                        <a:buFont typeface="Arial" panose="020B0604020202020204" pitchFamily="34" charset="0"/>
                        <a:buChar char="•"/>
                      </a:pPr>
                      <a:r>
                        <a:rPr lang="en-US" dirty="0"/>
                        <a:t>CCWs and CSS staff issued the form B2 to caregivers</a:t>
                      </a:r>
                    </a:p>
                  </a:txBody>
                  <a:tcPr/>
                </a:tc>
                <a:extLst>
                  <a:ext uri="{0D108BD9-81ED-4DB2-BD59-A6C34878D82A}">
                    <a16:rowId xmlns:a16="http://schemas.microsoft.com/office/drawing/2014/main" val="1077118500"/>
                  </a:ext>
                </a:extLst>
              </a:tr>
              <a:tr h="370840">
                <a:tc>
                  <a:txBody>
                    <a:bodyPr/>
                    <a:lstStyle/>
                    <a:p>
                      <a:r>
                        <a:rPr lang="en-US" dirty="0"/>
                        <a:t>Set-up and following up on 2 CPC for two communities</a:t>
                      </a:r>
                    </a:p>
                  </a:txBody>
                  <a:tcPr/>
                </a:tc>
                <a:tc>
                  <a:txBody>
                    <a:bodyPr/>
                    <a:lstStyle/>
                    <a:p>
                      <a:pPr marL="285750" indent="-285750">
                        <a:buFont typeface="Arial" panose="020B0604020202020204" pitchFamily="34" charset="0"/>
                        <a:buChar char="•"/>
                      </a:pPr>
                      <a:r>
                        <a:rPr lang="en-US" dirty="0"/>
                        <a:t>Advocacy visit to village for debrief and consent</a:t>
                      </a:r>
                    </a:p>
                    <a:p>
                      <a:pPr marL="285750" indent="-285750">
                        <a:buFont typeface="Arial" panose="020B0604020202020204" pitchFamily="34" charset="0"/>
                        <a:buChar char="•"/>
                      </a:pPr>
                      <a:r>
                        <a:rPr lang="en-US" dirty="0"/>
                        <a:t>Mobilized stakeholders through the </a:t>
                      </a:r>
                      <a:r>
                        <a:rPr lang="en-US" dirty="0" err="1"/>
                        <a:t>CCW</a:t>
                      </a:r>
                      <a:r>
                        <a:rPr lang="en-US" dirty="0"/>
                        <a:t> and scheduled a meeting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Inauguration and orientation of CPC group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Follow up monthly meetings</a:t>
                      </a:r>
                    </a:p>
                  </a:txBody>
                  <a:tcPr/>
                </a:tc>
                <a:extLst>
                  <a:ext uri="{0D108BD9-81ED-4DB2-BD59-A6C34878D82A}">
                    <a16:rowId xmlns:a16="http://schemas.microsoft.com/office/drawing/2014/main" val="3218854876"/>
                  </a:ext>
                </a:extLst>
              </a:tr>
              <a:tr h="370840">
                <a:tc>
                  <a:txBody>
                    <a:bodyPr/>
                    <a:lstStyle/>
                    <a:p>
                      <a:r>
                        <a:rPr lang="en-US" dirty="0"/>
                        <a:t>Held two community learning hub sessions</a:t>
                      </a:r>
                    </a:p>
                  </a:txBody>
                  <a:tcPr/>
                </a:tc>
                <a:tc>
                  <a:txBody>
                    <a:bodyPr/>
                    <a:lstStyle/>
                    <a:p>
                      <a:pPr marL="285750" indent="-285750">
                        <a:buFont typeface="Arial" panose="020B0604020202020204" pitchFamily="34" charset="0"/>
                        <a:buChar char="•"/>
                      </a:pPr>
                      <a:r>
                        <a:rPr lang="en-US" dirty="0"/>
                        <a:t>Identified CCWs with Educational background and motivated them to carry out the activity.</a:t>
                      </a:r>
                    </a:p>
                  </a:txBody>
                  <a:tcPr/>
                </a:tc>
                <a:extLst>
                  <a:ext uri="{0D108BD9-81ED-4DB2-BD59-A6C34878D82A}">
                    <a16:rowId xmlns:a16="http://schemas.microsoft.com/office/drawing/2014/main" val="3203978836"/>
                  </a:ext>
                </a:extLst>
              </a:tr>
              <a:tr h="370840">
                <a:tc>
                  <a:txBody>
                    <a:bodyPr/>
                    <a:lstStyle/>
                    <a:p>
                      <a:r>
                        <a:rPr lang="en-US" dirty="0"/>
                        <a:t>Mapped community entry point (194 TBA facilities, 2 FBA,8 PPMV,4 COMMUNITY CLINICS)</a:t>
                      </a:r>
                    </a:p>
                  </a:txBody>
                  <a:tcPr/>
                </a:tc>
                <a:tc>
                  <a:txBody>
                    <a:bodyPr/>
                    <a:lstStyle/>
                    <a:p>
                      <a:pPr marL="285750" indent="-285750">
                        <a:buFont typeface="Arial" panose="020B0604020202020204" pitchFamily="34" charset="0"/>
                        <a:buChar char="•"/>
                      </a:pPr>
                      <a:r>
                        <a:rPr lang="en-US" dirty="0"/>
                        <a:t>Identification of TBA facilities, FBA, PPMV and COMMUNITY CLINICS through CCWs</a:t>
                      </a:r>
                    </a:p>
                  </a:txBody>
                  <a:tcPr/>
                </a:tc>
                <a:extLst>
                  <a:ext uri="{0D108BD9-81ED-4DB2-BD59-A6C34878D82A}">
                    <a16:rowId xmlns:a16="http://schemas.microsoft.com/office/drawing/2014/main" val="3107699156"/>
                  </a:ext>
                </a:extLst>
              </a:tr>
              <a:tr h="370840">
                <a:tc>
                  <a:txBody>
                    <a:bodyPr/>
                    <a:lstStyle/>
                    <a:p>
                      <a:r>
                        <a:rPr lang="en-US" dirty="0"/>
                        <a:t>Re-enrollment of  out of school OVC</a:t>
                      </a:r>
                    </a:p>
                  </a:txBody>
                  <a:tcPr/>
                </a:tc>
                <a:tc>
                  <a:txBody>
                    <a:bodyPr/>
                    <a:lstStyle/>
                    <a:p>
                      <a:pPr marL="285750" indent="-285750">
                        <a:buFont typeface="Arial" panose="020B0604020202020204" pitchFamily="34" charset="0"/>
                        <a:buChar char="•"/>
                      </a:pPr>
                      <a:r>
                        <a:rPr lang="en-US" dirty="0"/>
                        <a:t>CPC supported identification and re-enrollment of out of school children through PPP </a:t>
                      </a:r>
                    </a:p>
                  </a:txBody>
                  <a:tcPr/>
                </a:tc>
                <a:extLst>
                  <a:ext uri="{0D108BD9-81ED-4DB2-BD59-A6C34878D82A}">
                    <a16:rowId xmlns:a16="http://schemas.microsoft.com/office/drawing/2014/main" val="1622265995"/>
                  </a:ext>
                </a:extLst>
              </a:tr>
            </a:tbl>
          </a:graphicData>
        </a:graphic>
      </p:graphicFrame>
    </p:spTree>
    <p:extLst>
      <p:ext uri="{BB962C8B-B14F-4D97-AF65-F5344CB8AC3E}">
        <p14:creationId xmlns:p14="http://schemas.microsoft.com/office/powerpoint/2010/main" val="1393543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407962" y="0"/>
            <a:ext cx="11099409" cy="1659988"/>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600" b="1" dirty="0">
              <a:solidFill>
                <a:schemeClr val="bg1"/>
              </a:solidFill>
            </a:endParaRPr>
          </a:p>
          <a:p>
            <a:r>
              <a:rPr lang="en-GB" sz="3600" b="1" dirty="0">
                <a:solidFill>
                  <a:schemeClr val="bg1"/>
                </a:solidFill>
              </a:rPr>
              <a:t>Birth Registration target VS achievements against target and plans</a:t>
            </a:r>
            <a:endParaRPr lang="x-none" sz="3600" b="1" dirty="0">
              <a:solidFill>
                <a:schemeClr val="bg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264554901"/>
              </p:ext>
            </p:extLst>
          </p:nvPr>
        </p:nvGraphicFramePr>
        <p:xfrm>
          <a:off x="1777757" y="1765431"/>
          <a:ext cx="8127999" cy="206463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688210">
                <a:tc>
                  <a:txBody>
                    <a:bodyPr/>
                    <a:lstStyle/>
                    <a:p>
                      <a:r>
                        <a:rPr lang="en-US" dirty="0">
                          <a:solidFill>
                            <a:schemeClr val="tx1"/>
                          </a:solidFill>
                        </a:rPr>
                        <a:t>BIRTH</a:t>
                      </a:r>
                      <a:r>
                        <a:rPr lang="en-US" baseline="0" dirty="0">
                          <a:solidFill>
                            <a:schemeClr val="tx1"/>
                          </a:solidFill>
                        </a:rPr>
                        <a:t> REGISTRATION</a:t>
                      </a:r>
                      <a:endParaRPr lang="en-US" dirty="0">
                        <a:solidFill>
                          <a:schemeClr val="tx1"/>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ACHIEVEMENT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688210">
                <a:tc>
                  <a:txBody>
                    <a:bodyPr/>
                    <a:lstStyle/>
                    <a:p>
                      <a:r>
                        <a:rPr lang="en-US" dirty="0"/>
                        <a:t>1200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1200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102</a:t>
                      </a:r>
                    </a:p>
                  </a:txBody>
                  <a:tcPr/>
                </a:tc>
                <a:extLst>
                  <a:ext uri="{0D108BD9-81ED-4DB2-BD59-A6C34878D82A}">
                    <a16:rowId xmlns:a16="http://schemas.microsoft.com/office/drawing/2014/main" val="10001"/>
                  </a:ext>
                </a:extLst>
              </a:tr>
              <a:tr h="68821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en-US" dirty="0"/>
                    </a:p>
                  </a:txBody>
                  <a:tcPr/>
                </a:tc>
                <a:extLst>
                  <a:ext uri="{0D108BD9-81ED-4DB2-BD59-A6C34878D82A}">
                    <a16:rowId xmlns:a16="http://schemas.microsoft.com/office/drawing/2014/main" val="88429318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58908002"/>
              </p:ext>
            </p:extLst>
          </p:nvPr>
        </p:nvGraphicFramePr>
        <p:xfrm>
          <a:off x="1803515" y="3350324"/>
          <a:ext cx="8128000" cy="2355017"/>
        </p:xfrm>
        <a:graphic>
          <a:graphicData uri="http://schemas.openxmlformats.org/drawingml/2006/table">
            <a:tbl>
              <a:tblPr firstRow="1" bandRow="1">
                <a:tableStyleId>{5C22544A-7EE6-4342-B048-85BDC9FD1C3A}</a:tableStyleId>
              </a:tblPr>
              <a:tblGrid>
                <a:gridCol w="2396980">
                  <a:extLst>
                    <a:ext uri="{9D8B030D-6E8A-4147-A177-3AD203B41FA5}">
                      <a16:colId xmlns:a16="http://schemas.microsoft.com/office/drawing/2014/main" val="20000"/>
                    </a:ext>
                  </a:extLst>
                </a:gridCol>
                <a:gridCol w="5731020">
                  <a:extLst>
                    <a:ext uri="{9D8B030D-6E8A-4147-A177-3AD203B41FA5}">
                      <a16:colId xmlns:a16="http://schemas.microsoft.com/office/drawing/2014/main" val="20001"/>
                    </a:ext>
                  </a:extLst>
                </a:gridCol>
              </a:tblGrid>
              <a:tr h="23550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PLANS/WAYFORWARD</a:t>
                      </a:r>
                    </a:p>
                    <a:p>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Registration and issuance of 800 birth certificates by May 2022 and 1200 by July 2022 through the CCWs during home visit in collaboration with </a:t>
                      </a:r>
                      <a:r>
                        <a:rPr lang="en-US" dirty="0" err="1">
                          <a:solidFill>
                            <a:schemeClr val="bg1"/>
                          </a:solidFill>
                        </a:rPr>
                        <a:t>NPOPc</a:t>
                      </a:r>
                      <a:endParaRPr lang="en-US" dirty="0">
                        <a:solidFill>
                          <a:schemeClr val="bg1"/>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33921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0" y="0"/>
            <a:ext cx="12191760" cy="2001600"/>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200" b="1" dirty="0">
              <a:solidFill>
                <a:schemeClr val="bg1"/>
              </a:solidFill>
            </a:endParaRPr>
          </a:p>
          <a:p>
            <a:r>
              <a:rPr lang="en-GB" sz="3200" b="1" dirty="0">
                <a:solidFill>
                  <a:schemeClr val="bg1"/>
                </a:solidFill>
              </a:rPr>
              <a:t>Community Dialogue implementation, key achievements and plans</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6</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dirty="0">
                <a:solidFill>
                  <a:srgbClr val="898989"/>
                </a:solidFill>
                <a:latin typeface="Calibri"/>
              </a:rPr>
              <a:t>CENTER FOR CLINICAL CARE AND RESEARCH NIGERIA</a:t>
            </a:r>
            <a:endParaRPr lang="en-GB" sz="1200" b="0" strike="noStrike" spc="-1" dirty="0">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3517906660"/>
              </p:ext>
            </p:extLst>
          </p:nvPr>
        </p:nvGraphicFramePr>
        <p:xfrm>
          <a:off x="1019745" y="2286000"/>
          <a:ext cx="9575407" cy="3449393"/>
        </p:xfrm>
        <a:graphic>
          <a:graphicData uri="http://schemas.openxmlformats.org/drawingml/2006/table">
            <a:tbl>
              <a:tblPr firstRow="1" bandRow="1">
                <a:tableStyleId>{5C22544A-7EE6-4342-B048-85BDC9FD1C3A}</a:tableStyleId>
              </a:tblPr>
              <a:tblGrid>
                <a:gridCol w="1008182">
                  <a:extLst>
                    <a:ext uri="{9D8B030D-6E8A-4147-A177-3AD203B41FA5}">
                      <a16:colId xmlns:a16="http://schemas.microsoft.com/office/drawing/2014/main" val="20000"/>
                    </a:ext>
                  </a:extLst>
                </a:gridCol>
                <a:gridCol w="4410484">
                  <a:extLst>
                    <a:ext uri="{9D8B030D-6E8A-4147-A177-3AD203B41FA5}">
                      <a16:colId xmlns:a16="http://schemas.microsoft.com/office/drawing/2014/main" val="20001"/>
                    </a:ext>
                  </a:extLst>
                </a:gridCol>
                <a:gridCol w="4156741">
                  <a:extLst>
                    <a:ext uri="{9D8B030D-6E8A-4147-A177-3AD203B41FA5}">
                      <a16:colId xmlns:a16="http://schemas.microsoft.com/office/drawing/2014/main" val="20002"/>
                    </a:ext>
                  </a:extLst>
                </a:gridCol>
              </a:tblGrid>
              <a:tr h="335708">
                <a:tc>
                  <a:txBody>
                    <a:bodyPr/>
                    <a:lstStyle/>
                    <a:p>
                      <a:r>
                        <a:rPr lang="en-US" dirty="0"/>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KEY ACHIEVEMENT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PLANS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24438">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Identified and carried out community dialogue at ANUA and AWAT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Schedule meeting date with stakeholders for session during council meetings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59195">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04446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423720" y="112542"/>
            <a:ext cx="10450606" cy="1617415"/>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600" b="1" dirty="0">
              <a:solidFill>
                <a:schemeClr val="bg1"/>
              </a:solidFill>
            </a:endParaRPr>
          </a:p>
          <a:p>
            <a:r>
              <a:rPr lang="en-GB" sz="3600" b="1" dirty="0">
                <a:solidFill>
                  <a:schemeClr val="bg1"/>
                </a:solidFill>
              </a:rPr>
              <a:t>LGA engagements strategies and plans</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7</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sp>
        <p:nvSpPr>
          <p:cNvPr id="179" name="TextShape 7"/>
          <p:cNvSpPr txBox="1"/>
          <p:nvPr/>
        </p:nvSpPr>
        <p:spPr>
          <a:xfrm>
            <a:off x="551400" y="1729957"/>
            <a:ext cx="9819250" cy="4710240"/>
          </a:xfrm>
          <a:prstGeom prst="rect">
            <a:avLst/>
          </a:prstGeom>
          <a:noFill/>
          <a:ln>
            <a:noFill/>
          </a:ln>
        </p:spPr>
        <p:txBody>
          <a:bodyPr>
            <a:noAutofit/>
          </a:bodyPr>
          <a:lstStyle/>
          <a:p>
            <a:pPr marL="342900" indent="-342900" algn="just">
              <a:lnSpc>
                <a:spcPct val="150000"/>
              </a:lnSpc>
              <a:spcBef>
                <a:spcPts val="1001"/>
              </a:spcBef>
              <a:buFont typeface="Arial" panose="020B0604020202020204" pitchFamily="34" charset="0"/>
              <a:buChar char="•"/>
            </a:pPr>
            <a:r>
              <a:rPr lang="en-GB" sz="2800" dirty="0">
                <a:latin typeface="Garamond" panose="02020404030301010803" pitchFamily="18" charset="0"/>
                <a:ea typeface="Cambria" panose="02040503050406030204" pitchFamily="18" charset="0"/>
              </a:rPr>
              <a:t>Meeting with </a:t>
            </a:r>
            <a:r>
              <a:rPr lang="en-GB" sz="2800" dirty="0" err="1">
                <a:latin typeface="Garamond" panose="02020404030301010803" pitchFamily="18" charset="0"/>
                <a:ea typeface="Cambria" panose="02040503050406030204" pitchFamily="18" charset="0"/>
              </a:rPr>
              <a:t>SWOs</a:t>
            </a:r>
            <a:r>
              <a:rPr lang="en-GB" sz="2800" dirty="0">
                <a:latin typeface="Garamond" panose="02020404030301010803" pitchFamily="18" charset="0"/>
                <a:ea typeface="Cambria" panose="02040503050406030204" pitchFamily="18" charset="0"/>
              </a:rPr>
              <a:t> to schedule date for coordination meeting between May and June 2022</a:t>
            </a:r>
          </a:p>
        </p:txBody>
      </p:sp>
    </p:spTree>
    <p:extLst>
      <p:ext uri="{BB962C8B-B14F-4D97-AF65-F5344CB8AC3E}">
        <p14:creationId xmlns:p14="http://schemas.microsoft.com/office/powerpoint/2010/main" val="26762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0" y="0"/>
            <a:ext cx="12191760" cy="2001600"/>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200" b="1" dirty="0">
              <a:solidFill>
                <a:schemeClr val="bg1"/>
              </a:solidFill>
            </a:endParaRPr>
          </a:p>
          <a:p>
            <a:pPr algn="ctr"/>
            <a:r>
              <a:rPr lang="en-GB" sz="3200" b="1" dirty="0">
                <a:solidFill>
                  <a:schemeClr val="bg1"/>
                </a:solidFill>
              </a:rPr>
              <a:t>Where you need support</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8</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sp>
        <p:nvSpPr>
          <p:cNvPr id="179" name="TextShape 7"/>
          <p:cNvSpPr txBox="1"/>
          <p:nvPr/>
        </p:nvSpPr>
        <p:spPr>
          <a:xfrm>
            <a:off x="1186255" y="2020320"/>
            <a:ext cx="9819250" cy="4710240"/>
          </a:xfrm>
          <a:prstGeom prst="rect">
            <a:avLst/>
          </a:prstGeom>
          <a:noFill/>
          <a:ln>
            <a:noFill/>
          </a:ln>
        </p:spPr>
        <p:txBody>
          <a:bodyPr>
            <a:noAutofit/>
          </a:bodyPr>
          <a:lstStyle/>
          <a:p>
            <a:pPr marL="342900" indent="-342900" algn="just">
              <a:lnSpc>
                <a:spcPct val="150000"/>
              </a:lnSpc>
              <a:spcBef>
                <a:spcPts val="1001"/>
              </a:spcBef>
              <a:buFont typeface="Arial" panose="020B0604020202020204" pitchFamily="34" charset="0"/>
              <a:buChar char="•"/>
            </a:pPr>
            <a:r>
              <a:rPr lang="en-GB" sz="2800" dirty="0">
                <a:latin typeface="Garamond" panose="02020404030301010803" pitchFamily="18" charset="0"/>
                <a:ea typeface="Cambria" panose="02040503050406030204" pitchFamily="18" charset="0"/>
              </a:rPr>
              <a:t>Incentives for key community activities</a:t>
            </a:r>
          </a:p>
        </p:txBody>
      </p:sp>
    </p:spTree>
    <p:extLst>
      <p:ext uri="{BB962C8B-B14F-4D97-AF65-F5344CB8AC3E}">
        <p14:creationId xmlns:p14="http://schemas.microsoft.com/office/powerpoint/2010/main" val="511194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0" y="0"/>
            <a:ext cx="12191760" cy="2001600"/>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200" b="1" dirty="0">
              <a:solidFill>
                <a:schemeClr val="bg1"/>
              </a:solidFill>
            </a:endParaRPr>
          </a:p>
          <a:p>
            <a:r>
              <a:rPr lang="en-GB" sz="3200" b="1" dirty="0">
                <a:solidFill>
                  <a:schemeClr val="bg1"/>
                </a:solidFill>
              </a:rPr>
              <a:t>           What do you want change in the way CCCRN supports you </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9</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sp>
        <p:nvSpPr>
          <p:cNvPr id="179" name="TextShape 7"/>
          <p:cNvSpPr txBox="1"/>
          <p:nvPr/>
        </p:nvSpPr>
        <p:spPr>
          <a:xfrm>
            <a:off x="1122535" y="2020320"/>
            <a:ext cx="9819250" cy="4710240"/>
          </a:xfrm>
          <a:prstGeom prst="rect">
            <a:avLst/>
          </a:prstGeom>
          <a:noFill/>
          <a:ln>
            <a:noFill/>
          </a:ln>
        </p:spPr>
        <p:txBody>
          <a:bodyPr>
            <a:noAutofit/>
          </a:bodyPr>
          <a:lstStyle/>
          <a:p>
            <a:pPr marL="342900" indent="-342900" algn="just">
              <a:lnSpc>
                <a:spcPct val="150000"/>
              </a:lnSpc>
              <a:spcBef>
                <a:spcPts val="1001"/>
              </a:spcBef>
              <a:buFont typeface="Arial" panose="020B0604020202020204" pitchFamily="34" charset="0"/>
              <a:buChar char="•"/>
            </a:pPr>
            <a:r>
              <a:rPr lang="en-GB" sz="2800" dirty="0">
                <a:ea typeface="Cambria" panose="02040503050406030204" pitchFamily="18" charset="0"/>
              </a:rPr>
              <a:t>Timely approval of workplan and release of funds</a:t>
            </a:r>
          </a:p>
        </p:txBody>
      </p:sp>
    </p:spTree>
    <p:extLst>
      <p:ext uri="{BB962C8B-B14F-4D97-AF65-F5344CB8AC3E}">
        <p14:creationId xmlns:p14="http://schemas.microsoft.com/office/powerpoint/2010/main" val="303327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0" y="0"/>
            <a:ext cx="12191760" cy="2001600"/>
          </a:xfrm>
          <a:prstGeom prst="rect">
            <a:avLst/>
          </a:prstGeom>
          <a:ln>
            <a:noFill/>
          </a:ln>
        </p:spPr>
        <p:style>
          <a:lnRef idx="2">
            <a:schemeClr val="accent1">
              <a:shade val="50000"/>
            </a:schemeClr>
          </a:lnRef>
          <a:fillRef idx="1">
            <a:schemeClr val="accent1"/>
          </a:fillRef>
          <a:effectRef idx="0">
            <a:schemeClr val="accent1"/>
          </a:effectRef>
          <a:fontRef idx="minor"/>
        </p:style>
        <p:txBody>
          <a:bodyPr/>
          <a:lstStyle/>
          <a:p>
            <a:endParaRPr lang="en-GB" sz="3600" b="1" dirty="0">
              <a:solidFill>
                <a:schemeClr val="bg1"/>
              </a:solidFill>
            </a:endParaRPr>
          </a:p>
          <a:p>
            <a:pPr algn="ctr"/>
            <a:r>
              <a:rPr lang="en-GB" sz="3600" b="1" dirty="0">
                <a:solidFill>
                  <a:schemeClr val="bg1"/>
                </a:solidFill>
              </a:rPr>
              <a:t>Key pending activities</a:t>
            </a:r>
          </a:p>
        </p:txBody>
      </p:sp>
      <p:sp>
        <p:nvSpPr>
          <p:cNvPr id="175" name="TextShape 3"/>
          <p:cNvSpPr txBox="1"/>
          <p:nvPr/>
        </p:nvSpPr>
        <p:spPr>
          <a:xfrm>
            <a:off x="838080" y="6356520"/>
            <a:ext cx="2742840" cy="364680"/>
          </a:xfrm>
          <a:prstGeom prst="rect">
            <a:avLst/>
          </a:prstGeom>
          <a:noFill/>
          <a:ln>
            <a:noFill/>
          </a:ln>
        </p:spPr>
        <p:txBody>
          <a:bodyPr anchor="ctr">
            <a:noAutofit/>
          </a:bodyPr>
          <a:lstStyle/>
          <a:p>
            <a:pPr>
              <a:lnSpc>
                <a:spcPct val="100000"/>
              </a:lnSpc>
            </a:pPr>
            <a:fld id="{4AE2983D-732B-46AA-934D-2EE81F6BEDDA}" type="datetime">
              <a:rPr lang="en-GB" sz="1200" b="0" strike="noStrike" spc="-1">
                <a:solidFill>
                  <a:srgbClr val="8B8B8B"/>
                </a:solidFill>
                <a:latin typeface="Calibri"/>
              </a:rPr>
              <a:t>22/04/2022</a:t>
            </a:fld>
            <a:endParaRPr lang="en-GB" sz="1200" b="0" strike="noStrike" spc="-1">
              <a:latin typeface="Times New Roman"/>
            </a:endParaRPr>
          </a:p>
        </p:txBody>
      </p:sp>
      <p:sp>
        <p:nvSpPr>
          <p:cNvPr id="176" name="TextShape 4"/>
          <p:cNvSpPr txBox="1"/>
          <p:nvPr/>
        </p:nvSpPr>
        <p:spPr>
          <a:xfrm>
            <a:off x="8610480" y="6356520"/>
            <a:ext cx="2742840" cy="364680"/>
          </a:xfrm>
          <a:prstGeom prst="rect">
            <a:avLst/>
          </a:prstGeom>
          <a:noFill/>
          <a:ln>
            <a:noFill/>
          </a:ln>
        </p:spPr>
        <p:txBody>
          <a:bodyPr anchor="ctr">
            <a:noAutofit/>
          </a:bodyPr>
          <a:lstStyle/>
          <a:p>
            <a:pPr algn="r">
              <a:lnSpc>
                <a:spcPct val="100000"/>
              </a:lnSpc>
            </a:pPr>
            <a:fld id="{47897F64-358B-4B53-9539-307F417E81F7}" type="slidenum">
              <a:rPr lang="en-GB" sz="1200" b="0" strike="noStrike" spc="-1">
                <a:solidFill>
                  <a:srgbClr val="898989"/>
                </a:solidFill>
                <a:latin typeface="Calibri"/>
              </a:rPr>
              <a:t>10</a:t>
            </a:fld>
            <a:endParaRPr lang="en-GB" sz="1200" b="0" strike="noStrike" spc="-1">
              <a:latin typeface="Times New Roman"/>
            </a:endParaRPr>
          </a:p>
        </p:txBody>
      </p:sp>
      <p:sp>
        <p:nvSpPr>
          <p:cNvPr id="177" name="CustomShape 5"/>
          <p:cNvSpPr/>
          <p:nvPr/>
        </p:nvSpPr>
        <p:spPr>
          <a:xfrm>
            <a:off x="3051000" y="6365880"/>
            <a:ext cx="64018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GB" sz="1200" b="0" strike="noStrike" spc="-1">
                <a:solidFill>
                  <a:srgbClr val="898989"/>
                </a:solidFill>
                <a:latin typeface="Calibri"/>
              </a:rPr>
              <a:t>CENTER FOR CLINICAL CARE AND RESEARCH NIGERIA</a:t>
            </a:r>
            <a:endParaRPr lang="en-GB" sz="1200" b="0" strike="noStrike" spc="-1">
              <a:latin typeface="Arial"/>
            </a:endParaRPr>
          </a:p>
        </p:txBody>
      </p:sp>
      <p:sp>
        <p:nvSpPr>
          <p:cNvPr id="178" name="CustomShape 6"/>
          <p:cNvSpPr/>
          <p:nvPr/>
        </p:nvSpPr>
        <p:spPr>
          <a:xfrm>
            <a:off x="423720" y="2286000"/>
            <a:ext cx="11216880" cy="4114440"/>
          </a:xfrm>
          <a:prstGeom prst="rect">
            <a:avLst/>
          </a:prstGeom>
          <a:noFill/>
          <a:ln>
            <a:noFill/>
          </a:ln>
        </p:spPr>
        <p:style>
          <a:lnRef idx="0">
            <a:scrgbClr r="0" g="0" b="0"/>
          </a:lnRef>
          <a:fillRef idx="0">
            <a:scrgbClr r="0" g="0" b="0"/>
          </a:fillRef>
          <a:effectRef idx="0">
            <a:scrgbClr r="0" g="0" b="0"/>
          </a:effectRef>
          <a:fontRef idx="minor"/>
        </p:style>
      </p:sp>
      <p:sp>
        <p:nvSpPr>
          <p:cNvPr id="179" name="TextShape 7"/>
          <p:cNvSpPr txBox="1"/>
          <p:nvPr/>
        </p:nvSpPr>
        <p:spPr>
          <a:xfrm>
            <a:off x="1186375" y="2020320"/>
            <a:ext cx="9819250" cy="4710240"/>
          </a:xfrm>
          <a:prstGeom prst="rect">
            <a:avLst/>
          </a:prstGeom>
          <a:noFill/>
          <a:ln>
            <a:noFill/>
          </a:ln>
        </p:spPr>
        <p:txBody>
          <a:bodyPr>
            <a:noAutofit/>
          </a:bodyPr>
          <a:lstStyle/>
          <a:p>
            <a:pPr marL="457200" indent="-457200" algn="just">
              <a:lnSpc>
                <a:spcPct val="150000"/>
              </a:lnSpc>
              <a:spcBef>
                <a:spcPts val="1001"/>
              </a:spcBef>
              <a:buFont typeface="Arial" panose="020B0604020202020204" pitchFamily="34" charset="0"/>
              <a:buChar char="•"/>
            </a:pPr>
            <a:r>
              <a:rPr lang="en-GB" sz="2800" dirty="0">
                <a:ea typeface="Cambria" panose="02040503050406030204" pitchFamily="18" charset="0"/>
              </a:rPr>
              <a:t>LGA assessment at URUE OFFONG AND UDUNG UKO</a:t>
            </a:r>
          </a:p>
        </p:txBody>
      </p:sp>
    </p:spTree>
    <p:extLst>
      <p:ext uri="{BB962C8B-B14F-4D97-AF65-F5344CB8AC3E}">
        <p14:creationId xmlns:p14="http://schemas.microsoft.com/office/powerpoint/2010/main" val="2676182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F7F41189-09C9-43AC-8C62-E68083CA5EA9}"/>
              </a:ext>
            </a:extLst>
          </p:cNvPr>
          <p:cNvSpPr>
            <a:spLocks noGrp="1" noRot="1" noChangeAspect="1" noMove="1" noResize="1" noEditPoints="1" noAdjustHandles="1" noChangeArrowheads="1" noChangeShapeType="1" noTextEdit="1"/>
          </p:cNvSpPr>
          <p:nvPr/>
        </p:nvSpPr>
        <p:spPr>
          <a:xfrm>
            <a:off x="0" y="1360488"/>
            <a:ext cx="12192000" cy="5497512"/>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grpSp>
        <p:nvGrpSpPr>
          <p:cNvPr id="12291" name="Group 60">
            <a:extLst>
              <a:ext uri="{FF2B5EF4-FFF2-40B4-BE49-F238E27FC236}">
                <a16:creationId xmlns:a16="http://schemas.microsoft.com/office/drawing/2014/main" id="{3A8A1591-F1D3-4053-A1E9-CB2F9819941D}"/>
              </a:ext>
            </a:extLst>
          </p:cNvPr>
          <p:cNvGrpSpPr>
            <a:grpSpLocks noGrp="1" noUngrp="1" noRot="1" noChangeAspect="1" noMove="1" noResize="1"/>
          </p:cNvGrpSpPr>
          <p:nvPr/>
        </p:nvGrpSpPr>
        <p:grpSpPr bwMode="auto">
          <a:xfrm flipV="1">
            <a:off x="0" y="0"/>
            <a:ext cx="12192000" cy="3049588"/>
            <a:chOff x="0" y="3808676"/>
            <a:chExt cx="12192000" cy="3049325"/>
          </a:xfrm>
        </p:grpSpPr>
        <p:pic>
          <p:nvPicPr>
            <p:cNvPr id="62" name="Picture 61">
              <a:extLst>
                <a:ext uri="{FF2B5EF4-FFF2-40B4-BE49-F238E27FC236}">
                  <a16:creationId xmlns:a16="http://schemas.microsoft.com/office/drawing/2014/main" id="{EE8DF6AF-8984-4CE6-8F0A-22E9375782A2}"/>
                </a:ext>
              </a:extLst>
            </p:cNvPr>
            <p:cNvPicPr>
              <a:picLocks noChangeAspect="1"/>
            </p:cNvPicPr>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63" name="Oval 62">
              <a:extLst>
                <a:ext uri="{FF2B5EF4-FFF2-40B4-BE49-F238E27FC236}">
                  <a16:creationId xmlns:a16="http://schemas.microsoft.com/office/drawing/2014/main" id="{DDF7350E-7FEC-485C-BD10-6235D6518673}"/>
                </a:ext>
              </a:extLst>
            </p:cNvPr>
            <p:cNvSpPr/>
            <p:nvPr/>
          </p:nvSpPr>
          <p:spPr>
            <a:xfrm>
              <a:off x="2066925" y="5375404"/>
              <a:ext cx="374650" cy="40477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grpSp>
      <p:sp>
        <p:nvSpPr>
          <p:cNvPr id="13" name="Content Placeholder 5">
            <a:extLst>
              <a:ext uri="{FF2B5EF4-FFF2-40B4-BE49-F238E27FC236}">
                <a16:creationId xmlns:a16="http://schemas.microsoft.com/office/drawing/2014/main" id="{ED655C80-CCF9-4A80-9776-AF92961457C0}"/>
              </a:ext>
            </a:extLst>
          </p:cNvPr>
          <p:cNvSpPr>
            <a:spLocks noGrp="1"/>
          </p:cNvSpPr>
          <p:nvPr>
            <p:ph idx="1"/>
          </p:nvPr>
        </p:nvSpPr>
        <p:spPr>
          <a:xfrm>
            <a:off x="1179513" y="2606675"/>
            <a:ext cx="9832975" cy="3387725"/>
          </a:xfrm>
        </p:spPr>
        <p:txBody>
          <a:bodyPr rtlCol="0" anchor="ctr">
            <a:normAutofit/>
          </a:bodyPr>
          <a:lstStyle/>
          <a:p>
            <a:pPr marL="0" indent="0" eaLnBrk="1" fontAlgn="auto" hangingPunct="1">
              <a:spcAft>
                <a:spcPts val="0"/>
              </a:spcAft>
              <a:buFont typeface="Arial" panose="020B0604020202020204" pitchFamily="34" charset="0"/>
              <a:buNone/>
              <a:defRPr/>
            </a:pPr>
            <a:r>
              <a:rPr lang="en-US" sz="1700" dirty="0">
                <a:solidFill>
                  <a:srgbClr val="FFFFFF"/>
                </a:solidFill>
              </a:rPr>
              <a:t>Integrated Child Health and Social Services Award (ICHSSA Lot 1) is a five-year cooperative agreement funded by the U.S. President’s Emergency Plan for AIDS Relief through the U.S. Agency for International Development under Agreement No. 72062020CA00006, beginning December 19, 2019. It is implemented by Center for Clinical Care and Research Nigeria, in partnership Catholic Relief Services, and supported by expert local resource partners.  </a:t>
            </a:r>
          </a:p>
          <a:p>
            <a:pPr eaLnBrk="1" fontAlgn="auto" hangingPunct="1">
              <a:spcAft>
                <a:spcPts val="0"/>
              </a:spcAft>
              <a:defRPr/>
            </a:pPr>
            <a:endParaRPr lang="en-US" sz="1700" dirty="0">
              <a:solidFill>
                <a:srgbClr val="FFFFFF"/>
              </a:solidFill>
            </a:endParaRPr>
          </a:p>
          <a:p>
            <a:pPr marL="0" indent="0" eaLnBrk="1" fontAlgn="auto" hangingPunct="1">
              <a:spcAft>
                <a:spcPts val="0"/>
              </a:spcAft>
              <a:buFont typeface="Arial" panose="020B0604020202020204" pitchFamily="34" charset="0"/>
              <a:buNone/>
              <a:defRPr/>
            </a:pPr>
            <a:r>
              <a:rPr lang="en-US" sz="1700" i="1" dirty="0">
                <a:solidFill>
                  <a:srgbClr val="FFFFFF"/>
                </a:solidFill>
              </a:rPr>
              <a:t>This presentation was produced for review by the U.S. President’s Emergency Plan for AIDS Relief through the United States Agency for International Development. The information provided [in this document] is not official U.S. government information and does not necessarily reflect the views or positions of the U. S. President’s Emergency Plan for AIDS Relief, U.S. Agency for International Development or the United States Government. </a:t>
            </a:r>
          </a:p>
          <a:p>
            <a:pPr eaLnBrk="1" fontAlgn="auto" hangingPunct="1">
              <a:spcAft>
                <a:spcPts val="0"/>
              </a:spcAft>
              <a:defRPr/>
            </a:pPr>
            <a:endParaRPr lang="en-US" sz="1700" dirty="0">
              <a:solidFill>
                <a:srgbClr val="FFFFFF"/>
              </a:solidFill>
            </a:endParaRPr>
          </a:p>
        </p:txBody>
      </p:sp>
      <p:sp>
        <p:nvSpPr>
          <p:cNvPr id="12293" name="Date Placeholder 5">
            <a:extLst>
              <a:ext uri="{FF2B5EF4-FFF2-40B4-BE49-F238E27FC236}">
                <a16:creationId xmlns:a16="http://schemas.microsoft.com/office/drawing/2014/main" id="{CB1D148C-7FDD-4CFE-82A0-68FA3B847BEE}"/>
              </a:ext>
            </a:extLst>
          </p:cNvPr>
          <p:cNvSpPr>
            <a:spLocks noGrp="1"/>
          </p:cNvSpPr>
          <p:nvPr>
            <p:ph type="dt" sz="quarter" idx="10"/>
          </p:nvPr>
        </p:nvSpPr>
        <p:spPr bwMode="auto">
          <a:xfrm>
            <a:off x="7554913" y="6223000"/>
            <a:ext cx="3106737" cy="314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fontAlgn="base">
              <a:lnSpc>
                <a:spcPct val="100000"/>
              </a:lnSpc>
              <a:spcBef>
                <a:spcPct val="0"/>
              </a:spcBef>
              <a:spcAft>
                <a:spcPts val="600"/>
              </a:spcAft>
              <a:buFontTx/>
              <a:buNone/>
            </a:pPr>
            <a:fld id="{7324D25D-6FF3-44D5-8CC4-7263C440F01A}" type="datetime2">
              <a:rPr lang="en-US" altLang="en-US" sz="1000" smtClean="0">
                <a:solidFill>
                  <a:srgbClr val="FFFFFF"/>
                </a:solidFill>
              </a:rPr>
              <a:pPr algn="r" fontAlgn="base">
                <a:lnSpc>
                  <a:spcPct val="100000"/>
                </a:lnSpc>
                <a:spcBef>
                  <a:spcPct val="0"/>
                </a:spcBef>
                <a:spcAft>
                  <a:spcPts val="600"/>
                </a:spcAft>
                <a:buFontTx/>
                <a:buNone/>
              </a:pPr>
              <a:t>Friday, 22 April, 2022</a:t>
            </a:fld>
            <a:endParaRPr lang="en-US" altLang="en-US" sz="1000">
              <a:solidFill>
                <a:srgbClr val="FFFFFF"/>
              </a:solidFill>
            </a:endParaRPr>
          </a:p>
        </p:txBody>
      </p:sp>
      <p:sp>
        <p:nvSpPr>
          <p:cNvPr id="12294" name="Slide Number Placeholder 6">
            <a:extLst>
              <a:ext uri="{FF2B5EF4-FFF2-40B4-BE49-F238E27FC236}">
                <a16:creationId xmlns:a16="http://schemas.microsoft.com/office/drawing/2014/main" id="{457D26DB-1C8C-457C-9A81-7CB8DA375F11}"/>
              </a:ext>
            </a:extLst>
          </p:cNvPr>
          <p:cNvSpPr>
            <a:spLocks noGrp="1"/>
          </p:cNvSpPr>
          <p:nvPr>
            <p:ph type="sldNum" sz="quarter" idx="12"/>
          </p:nvPr>
        </p:nvSpPr>
        <p:spPr bwMode="auto">
          <a:xfrm>
            <a:off x="10825163" y="6223000"/>
            <a:ext cx="571500" cy="314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spcAft>
                <a:spcPts val="600"/>
              </a:spcAft>
              <a:buFontTx/>
              <a:buNone/>
            </a:pPr>
            <a:fld id="{226D00D0-874F-41B4-86EB-6B701CE4293E}" type="slidenum">
              <a:rPr lang="en-US" altLang="en-US" sz="1000">
                <a:solidFill>
                  <a:srgbClr val="FFFFFF"/>
                </a:solidFill>
              </a:rPr>
              <a:pPr>
                <a:lnSpc>
                  <a:spcPct val="100000"/>
                </a:lnSpc>
                <a:spcBef>
                  <a:spcPct val="0"/>
                </a:spcBef>
                <a:spcAft>
                  <a:spcPts val="600"/>
                </a:spcAft>
                <a:buFontTx/>
                <a:buNone/>
              </a:pPr>
              <a:t>11</a:t>
            </a:fld>
            <a:endParaRPr lang="en-US" altLang="en-US" sz="1000">
              <a:solidFill>
                <a:srgbClr val="FFFFFF"/>
              </a:solidFill>
            </a:endParaRPr>
          </a:p>
        </p:txBody>
      </p:sp>
      <p:pic>
        <p:nvPicPr>
          <p:cNvPr id="12295" name="Picture 8">
            <a:extLst>
              <a:ext uri="{FF2B5EF4-FFF2-40B4-BE49-F238E27FC236}">
                <a16:creationId xmlns:a16="http://schemas.microsoft.com/office/drawing/2014/main" id="{045D054C-77F7-4913-8C44-6ECAF0634E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39325" y="279400"/>
            <a:ext cx="1973263"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9">
            <a:extLst>
              <a:ext uri="{FF2B5EF4-FFF2-40B4-BE49-F238E27FC236}">
                <a16:creationId xmlns:a16="http://schemas.microsoft.com/office/drawing/2014/main" id="{7A3FED8E-9F0E-487B-A711-05F98F11E7CB}"/>
              </a:ext>
            </a:extLst>
          </p:cNvPr>
          <p:cNvPicPr>
            <a:picLocks noChangeAspect="1"/>
          </p:cNvPicPr>
          <p:nvPr/>
        </p:nvPicPr>
        <p:blipFill>
          <a:blip r:embed="rId4">
            <a:extLst>
              <a:ext uri="{28A0092B-C50C-407E-A947-70E740481C1C}">
                <a14:useLocalDpi xmlns:a14="http://schemas.microsoft.com/office/drawing/2010/main" val="0"/>
              </a:ext>
            </a:extLst>
          </a:blip>
          <a:srcRect t="24782" b="22537"/>
          <a:stretch>
            <a:fillRect/>
          </a:stretch>
        </p:blipFill>
        <p:spPr bwMode="auto">
          <a:xfrm>
            <a:off x="327025" y="449263"/>
            <a:ext cx="2828925"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2465</TotalTime>
  <Words>796</Words>
  <Application>Microsoft Office PowerPoint</Application>
  <PresentationFormat>Widescreen</PresentationFormat>
  <Paragraphs>115</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Garamond</vt:lpstr>
      <vt:lpstr>Gill Sans MT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David Akpan</dc:creator>
  <cp:lastModifiedBy>APPLICANTS WELFARE</cp:lastModifiedBy>
  <cp:revision>128</cp:revision>
  <dcterms:created xsi:type="dcterms:W3CDTF">2021-06-21T22:15:38Z</dcterms:created>
  <dcterms:modified xsi:type="dcterms:W3CDTF">2022-04-22T13:06:52Z</dcterms:modified>
</cp:coreProperties>
</file>